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4243B"/>
          </a:solidFill>
          <a:ln>
            <a:solidFill>
              <a:srgbClr val="14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1080" y="960120"/>
            <a:ext cx="2331720" cy="73152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5BFAE"/>
                </a:solidFill>
                <a:latin typeface="Aptos"/>
              </a:rPr>
              <a:t>GENAI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63040"/>
            <a:ext cx="676656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5F8FA"/>
                </a:solidFill>
                <a:latin typeface="Aptos"/>
              </a:rPr>
              <a:t>AI-Powered
Document Processing
&amp; Business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69080"/>
            <a:ext cx="62636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A8B8C7"/>
                </a:solidFill>
                <a:latin typeface="Aptos"/>
              </a:rPr>
              <a:t>From customer complaint documents to validated cases, customer communication, management summaries, and consolidated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2578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358384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FDED8"/>
                </a:solidFill>
                <a:latin typeface="Aptos"/>
              </a:rPr>
              <a:t>TXT / PDF / DOCX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52578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358384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FDED8"/>
                </a:solidFill>
                <a:latin typeface="Aptos"/>
              </a:rPr>
              <a:t>LLM + Pydantic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52578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5358384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FDED8"/>
                </a:solidFill>
                <a:latin typeface="Aptos"/>
              </a:rPr>
              <a:t>FastAPI + 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166360"/>
            <a:ext cx="32461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A practical, testable GenAI workflow for customer case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36576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Turning unstructured complaints into operational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64008" cy="342900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A348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41605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4160520" cy="2532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Complaints arrive as unstructured files. Manual review creates slow turnaround, inconsistent classification, repetitive writing, and limited visibility into failed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64008" cy="3429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011680"/>
            <a:ext cx="41605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2496312"/>
            <a:ext cx="4160520" cy="2532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A modular pipeline parses each document, extracts a validated case, generates two business outputs, and records every result in structured reports.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596128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A348"/>
                </a:solidFill>
                <a:latin typeface="Aptos"/>
              </a:rPr>
              <a:t>The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5559552"/>
            <a:ext cx="7863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Aptos"/>
              </a:rPr>
              <a:t>Faster review  •  Consistent data  •  Traceable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One workflow, multiple business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96596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423160"/>
            <a:ext cx="21488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8B8C7"/>
                </a:solidFill>
                <a:latin typeface="Aptos"/>
              </a:rPr>
              <a:t>TXT, PDF, and DOCX complaint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78308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96596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423160"/>
            <a:ext cx="21488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8B8C7"/>
                </a:solidFill>
                <a:latin typeface="Aptos"/>
              </a:rPr>
              <a:t>Convert unstructured text into ComplaintCase.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78308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98424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196596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Communicate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423160"/>
            <a:ext cx="21488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8B8C7"/>
                </a:solidFill>
                <a:latin typeface="Aptos"/>
              </a:rPr>
              <a:t>Draft a grounded customer response email.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576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5876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84048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Summarize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297680"/>
            <a:ext cx="21488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8B8C7"/>
                </a:solidFill>
                <a:latin typeface="Aptos"/>
              </a:rPr>
              <a:t>Create an internal management summary.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6576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85876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384048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4297680"/>
            <a:ext cx="21488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8B8C7"/>
                </a:solidFill>
                <a:latin typeface="Aptos"/>
              </a:rPr>
              <a:t>Persist JSON, TXT, CSV, and processing 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6576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85876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384048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4297680"/>
            <a:ext cx="21488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8B8C7"/>
                </a:solidFill>
                <a:latin typeface="Aptos"/>
              </a:rPr>
              <a:t>Expose the flow through API and browser UI.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A layered architecture built for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27632"/>
            <a:ext cx="699516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7830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783080"/>
            <a:ext cx="64008" cy="1143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011680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496312"/>
            <a:ext cx="27432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Batch processor and workflow router coordinate the business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1089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108960"/>
            <a:ext cx="64008" cy="114300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337560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822191"/>
            <a:ext cx="27432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LLM client centralizes tiers, retries, fallbacks, and structured responses.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43484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434840"/>
            <a:ext cx="64008" cy="1143000"/>
          </a:xfrm>
          <a:prstGeom prst="rect">
            <a:avLst/>
          </a:prstGeom>
          <a:solidFill>
            <a:srgbClr val="6FDED8"/>
          </a:solidFill>
          <a:ln>
            <a:solidFill>
              <a:srgbClr val="6F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663440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Delivery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5148072"/>
            <a:ext cx="27432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FastAPI and Streamlit make the workflow usable by systems and people.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Sequential extraction, parallel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042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46120"/>
            <a:ext cx="14447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8B8C7"/>
                </a:solidFill>
                <a:latin typeface="Aptos"/>
              </a:rPr>
              <a:t>Load and group document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816352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05740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3042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46120"/>
            <a:ext cx="14447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8B8C7"/>
                </a:solidFill>
                <a:latin typeface="Aptos"/>
              </a:rPr>
              <a:t>Create ComplaintCase with the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816352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205740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23042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74320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246120"/>
            <a:ext cx="14447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8B8C7"/>
                </a:solidFill>
                <a:latin typeface="Aptos"/>
              </a:rPr>
              <a:t>Enforce the Pydantic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2816352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205740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23042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74320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3246120"/>
            <a:ext cx="14447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8B8C7"/>
                </a:solidFill>
                <a:latin typeface="Aptos"/>
              </a:rPr>
              <a:t>Email + summary run independently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816352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6" y="205740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12096" y="2304288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348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274320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Persist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3246120"/>
            <a:ext cx="14447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A8B8C7"/>
                </a:solidFill>
                <a:latin typeface="Aptos"/>
              </a:rPr>
              <a:t>Save artifacts and report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4617720"/>
            <a:ext cx="4434840" cy="658368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818888"/>
            <a:ext cx="397763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6FDED8"/>
                </a:solidFill>
                <a:latin typeface="Aptos"/>
              </a:rPr>
              <a:t>Parallel branch: customer email  +  management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STRUCTURED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The LLM is constrained by a business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8FA"/>
                </a:solidFill>
                <a:latin typeface="Aptos"/>
              </a:rPr>
              <a:t>Unstructured complaint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920240" cy="150876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1554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A8B8C7"/>
                </a:solidFill>
                <a:latin typeface="Aptos"/>
              </a:rPr>
              <a:t>Customer reports
issue, action, status,
and supporting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78892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8FA"/>
                </a:solidFill>
                <a:latin typeface="Aptos"/>
              </a:rPr>
              <a:t>LLM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331720"/>
            <a:ext cx="2011680" cy="150876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670048"/>
            <a:ext cx="1554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A8B8C7"/>
                </a:solidFill>
                <a:latin typeface="Aptos"/>
              </a:rPr>
              <a:t>Grounded prompts
+ model tier
+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78892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8FA"/>
                </a:solidFill>
                <a:latin typeface="Aptos"/>
              </a:rPr>
              <a:t>Validated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331720"/>
            <a:ext cx="2011680" cy="150876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670048"/>
            <a:ext cx="155448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A8B8C7"/>
                </a:solidFill>
                <a:latin typeface="Aptos"/>
              </a:rPr>
              <a:t>ComplaintCase
Pydantic schema
strict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874519"/>
            <a:ext cx="2011680" cy="214884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874519"/>
            <a:ext cx="64008" cy="214884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2103120"/>
            <a:ext cx="15087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587752"/>
            <a:ext cx="1508760" cy="1252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The downstream workflows receive predictable data instead of an unvalidated raw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LLM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Reliability is designed into the LLM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337560" cy="3429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64008" cy="3429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5BFAE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2423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Model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2423160" cy="2532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BASIC handles email and summary generation. GENERIC handles structured extraction. COMPLEX is available for future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3337560" cy="3429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83080"/>
            <a:ext cx="64008" cy="342900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A34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011680"/>
            <a:ext cx="2423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Retry +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496312"/>
            <a:ext cx="2423160" cy="2532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Each tier has a primary and fallback model. Requests use configured timeout and retry policies before failure is reported.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783080"/>
            <a:ext cx="3337560" cy="3429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783080"/>
            <a:ext cx="64008" cy="3429000"/>
          </a:xfrm>
          <a:prstGeom prst="rect">
            <a:avLst/>
          </a:prstGeom>
          <a:solidFill>
            <a:srgbClr val="6FDED8"/>
          </a:solidFill>
          <a:ln>
            <a:solidFill>
              <a:srgbClr val="6F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FDED8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011680"/>
            <a:ext cx="2423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Grounded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2496312"/>
            <a:ext cx="2423160" cy="2532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Prompts require source-only facts and prohibit invented customer details, actions, dates, resolutions, and promises.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15000"/>
            <a:ext cx="9144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F8FA"/>
                </a:solidFill>
                <a:latin typeface="Aptos"/>
              </a:rPr>
              <a:t>Failure is visible: it becomes a logged, document-level result in the final report.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Built for both people and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5257800" cy="4343400"/>
          </a:xfrm>
          <a:prstGeom prst="rect">
            <a:avLst/>
          </a:prstGeom>
        </p:spPr>
      </p:pic>
      <p:pic>
        <p:nvPicPr>
          <p:cNvPr id="8" name="Picture 7" descr="api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25780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6099048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6FDED8"/>
                </a:solidFill>
                <a:latin typeface="Aptos"/>
              </a:rPr>
              <a:t>Streamlit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6099048"/>
            <a:ext cx="20116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6FDED8"/>
                </a:solidFill>
                <a:latin typeface="Aptos"/>
              </a:rPr>
              <a:t>FastAPI + Swagger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Every run leaves a useful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291840" cy="34747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64008" cy="347472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5BFAE"/>
                </a:solidFill>
                <a:latin typeface="Aptos"/>
              </a:rPr>
              <a:t>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23774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Structured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2377440" cy="2578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One JSON file per source document with customer details, category, issue, resolution, escalation, evidence, and case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3291840" cy="34747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83080"/>
            <a:ext cx="64008" cy="3474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A348"/>
                </a:solidFill>
                <a:latin typeface="Aptos"/>
              </a:rPr>
              <a:t>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011680"/>
            <a:ext cx="23774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Human-readable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496312"/>
            <a:ext cx="2377440" cy="2578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A customer-facing email and an internal management summary are saved as separate text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783080"/>
            <a:ext cx="3291840" cy="34747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783080"/>
            <a:ext cx="64008" cy="3474720"/>
          </a:xfrm>
          <a:prstGeom prst="rect">
            <a:avLst/>
          </a:prstGeom>
          <a:solidFill>
            <a:srgbClr val="6FDED8"/>
          </a:solidFill>
          <a:ln>
            <a:solidFill>
              <a:srgbClr val="6F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FDED8"/>
                </a:solidFill>
                <a:latin typeface="Aptos"/>
              </a:rPr>
              <a:t>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011680"/>
            <a:ext cx="23774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Batch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2496312"/>
            <a:ext cx="2377440" cy="2578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The final CSV records source files, success or failure, errors, and paths to generated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760720"/>
            <a:ext cx="9601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5F8FA"/>
                </a:solidFill>
                <a:latin typeface="Aptos"/>
              </a:rPr>
              <a:t>Local batch: output/     API runs: output/runs/&lt;run_id&gt;/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A small API surface with a complete workflow behind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05840" cy="5029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5BFAE"/>
                </a:solidFill>
                <a:latin typeface="Aptos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56231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A8B8C7"/>
                </a:solidFill>
                <a:latin typeface="Aptos"/>
              </a:rPr>
              <a:t>Service health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1005840" cy="502920"/>
          </a:xfrm>
          <a:prstGeom prst="roundRect">
            <a:avLst>
              <a:gd name="adj" fmla="val 8000"/>
            </a:avLst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4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C1728"/>
                </a:solidFill>
                <a:latin typeface="Aptos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090672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/api/v1/process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A8B8C7"/>
                </a:solidFill>
                <a:latin typeface="Aptos"/>
              </a:rPr>
              <a:t>Upload and process 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1005840" cy="50292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98264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5BFAE"/>
                </a:solidFill>
                <a:latin typeface="Aptos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325112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/api/v1/report/{run_id}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43400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A8B8C7"/>
                </a:solidFill>
                <a:latin typeface="Aptos"/>
              </a:rPr>
              <a:t>Download the final CSV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86400"/>
            <a:ext cx="10241280" cy="566928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669280"/>
            <a:ext cx="97840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6FDED8"/>
                </a:solidFill>
                <a:latin typeface="Aptos"/>
              </a:rPr>
              <a:t>Upload  →  Run ID  →  Processing statistics  →  Downloadable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QUALITY AND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Designed to be tested without spending on live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383280" cy="3429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64008" cy="3429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5BFAE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24688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Automated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2468880" cy="2532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Pytest coverage spans parsing, schemas, LLM behavior, workflows, batch processing, output persistence, and FastAPI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429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64008" cy="342900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A348"/>
                </a:solidFill>
                <a:latin typeface="Aptos"/>
              </a:rPr>
              <a:t>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11680"/>
            <a:ext cx="24688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Mocked LLM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96312"/>
            <a:ext cx="2468880" cy="2532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Tests remain deterministic and generally do not require an API key or provider calls.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783080"/>
            <a:ext cx="3383280" cy="342900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A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1783080"/>
            <a:ext cx="64008" cy="3429000"/>
          </a:xfrm>
          <a:prstGeom prst="rect">
            <a:avLst/>
          </a:prstGeom>
          <a:solidFill>
            <a:srgbClr val="6FDED8"/>
          </a:solidFill>
          <a:ln>
            <a:solidFill>
              <a:srgbClr val="6F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01168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6FDED8"/>
                </a:solidFill>
                <a:latin typeface="Aptos"/>
              </a:rPr>
              <a:t>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011680"/>
            <a:ext cx="24688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Operational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96312"/>
            <a:ext cx="2468880" cy="2532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A8B8C7"/>
                </a:solidFill>
                <a:latin typeface="Aptos"/>
              </a:rPr>
              <a:t>Console and rotating file logs capture document-level outcomes, API run IDs, failures, and model activity.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715000"/>
            <a:ext cx="44805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5F8FA"/>
                </a:solidFill>
                <a:latin typeface="Aptos"/>
              </a:rPr>
              <a:t>Run: python -m pytest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BFAE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5BFAE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FAE"/>
                </a:solidFill>
                <a:latin typeface="Aptos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F8FA"/>
                </a:solidFill>
                <a:latin typeface="Aptos"/>
              </a:rPr>
              <a:t>A clear path from upload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914400" cy="45720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011680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A34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1463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Upload complaints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212848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874519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5" y="2011680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A348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7" y="2487168"/>
            <a:ext cx="1463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Watch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2212848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1874519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5583" y="2011680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A348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487168"/>
            <a:ext cx="1463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Inspect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212848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1874519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2011680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A348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2487168"/>
            <a:ext cx="1463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Review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212848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BFAE"/>
                </a:solidFill>
                <a:latin typeface="Aptos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1874519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14243B"/>
          </a:solidFill>
          <a:ln>
            <a:solidFill>
              <a:srgbClr val="25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2011680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A348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487168"/>
            <a:ext cx="14630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Review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86200"/>
            <a:ext cx="10012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5F8FA"/>
                </a:solidFill>
                <a:latin typeface="Aptos"/>
              </a:rPr>
              <a:t>One complaint document becomes a validated case and three useful outputs.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754880"/>
            <a:ext cx="8915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A8B8C7"/>
                </a:solidFill>
                <a:latin typeface="Aptos"/>
              </a:rPr>
              <a:t>AI-assisted processing with validation, traceability, and human review built into the workflow.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5650992"/>
            <a:ext cx="4023360" cy="73152"/>
          </a:xfrm>
          <a:prstGeom prst="rect">
            <a:avLst/>
          </a:prstGeom>
          <a:solidFill>
            <a:srgbClr val="F5A348"/>
          </a:solidFill>
          <a:ln>
            <a:solidFill>
              <a:srgbClr val="F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492240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A8B8C7"/>
                </a:solidFill>
                <a:latin typeface="Aptos"/>
              </a:rPr>
              <a:t>AI Document Processing  •  Thank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6492240"/>
            <a:ext cx="2697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A8B8C7"/>
                </a:solidFill>
                <a:latin typeface="Aptos"/>
              </a:rPr>
              <a:t>GenAI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